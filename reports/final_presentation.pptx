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14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16" y="2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660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This project asks whether machine learning can turn the MTA's backward-looking on-time performance reporting for the Staten Island Railway into a forward-looking forecast. Three headline results up front: a fairly retrained XGBoost model beat the best simple baseline by about 18.7 percent on mean absolute error; that result was stress-tested with five-fold time-series cross-validation; and residual-based prediction intervals achieved almost exactly their nominal 80 and 90 percent coverage. Everything is built on twenty years of public MTA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Staten Island Railway is the only rail line on the island, and for most riders it exists to meet the ferry. The MTA already measures reliability well: monthly on-time performance, published openly. The gap is that this is entirely retrospective. The preliminary examination showed three properties that make the series a good machine-learning candidate: strong month-to-month momentum, visible seasonality, and a long history. Those three properties directly motivated the feature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formal research question asks whether gradient-boosted trees with engineered temporal features can beat traditional statistical forecasting while staying interpretable. It decomposes into three testable sub-questions: accuracy against baselines under a fair protocol, stability across historical eras, and practical usefulness through explainability and uncertainty quantification.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dataset: the MTA public Staten Island Railway on-time performance file, 2006 through January 2026, about twelve hundred rows across five reporting categories. The headline research series is the 7-Day category, 241 monthly observations. The target definition matters: it is the without-boat OTP column, one month ahead. The with-boat variant is reserved for future comparison. No external data is used yet; weather and incidents are explicitly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Exploratory analysis looked at the OTP trend, delayed-trains trend, and seasonal structure. Three findings drove everything downstream. First, momentum: the series is strongly autocorrelated, which is why lag and rolling-average features work. Second, seasonality: there is recurring within-year structure, and SHAP later ranks month number as the single most influential feature. Third, regime changes: the sample spans twenty years of different operating conditions including the pandemic, which is why chronological cross-validation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series becomes a supervised problem in the standard way: each row pairs the current month's operational state with next month's OTP. Feature groups mirror the EDA findings: lags for momentum, rolling means for trend, operational load, and calendar. Three candidates were compared on a chronological split. XGBoost had the best RMSE and R-squared, handles interactions, and supports SHAP, so it was selected.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accuracy result: six forecasters were evaluated on the same held-out window, August 2025 through January 2026, with XGBoost retrained fairly on pre-test data only. XGBoost wins with MAE 1.21 OTP percentage points against 1.49 for the best simple baseline, the 6-month moving average: an 18.7 percent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Stability check: TimeSeriesSplit with five chronological folds over the full 2006-to-2026 history. Average MAE is 2.11, worse than the 1.21 recent-era window, and that gap is a finding. The fold pattern improves with more training history, from 2.93 in the earliest fold to 1.30 in the latest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forecasts overstate certainty, so Phase 15 attaches empirical intervals. The method takes residuals from chronologically honest cross-validation and uses their percentiles as bands. Coverage is meaningful: 79.5 percent for the 80 percent interval and 89.7 percent for the 90 percent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Interpretability was part of the research question, not an afterthought. SHAP decomposes each prediction into additive feature contributions. The ranking: month number first by a wide margin, confirming seasonality; then delay rate; year; OTP lags and rolling features; and delayed-train counts. The important part is that the model drivers match planner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delivery vehicle is a Streamlit dashboard aimed at non-technical users. It includes executive KPI cards, trend and actual-versus-predicted views, recursive future forecasting, and SHAP explainability. The key is risk translation: forecasted months are classified as Low, Medium, or High risk with simple OTP thresholds and a plain-language outlook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honestly: the sample is small, the test window is short, accuracy is era-dependent, external drivers are not included yet, and recursive forecasts compound error with horizon. Future work follows directly: weather first, then incident and ridership data, uncertainty-aware risk bands, and alternative targets including the with-boat series. The research question is answered affirmatively, with the caveats stated.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R_MASTER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6072" y="65379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Staten Island Railway OTP Forecasting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hostwriter_images/generated/a_clean_minimalist_slightly_stylized_realistic_i_1_batch_1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2057400"/>
            <a:ext cx="1325880" cy="0"/>
          </a:xfrm>
          <a:prstGeom prst="line">
            <a:avLst/>
          </a:prstGeom>
          <a:noFill/>
          <a:ln w="50800">
            <a:solidFill>
              <a:srgbClr val="F4B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58368" y="566928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Forecasting Staten Island Railway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On-Time Performance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76656" y="160020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63A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Explainable and uncertainty-aware machine learning for transit reliability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76656" y="21488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ANLY 530 Final Project  |  Chinmay Naringrekar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76656" y="23957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MTA Open Data · Staten Island Railway OTP · 2006–2026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458200" y="71323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7BC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18.7%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458200" y="115214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MAE than best baseline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690340" y="71323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5 folds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9738360" y="11521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time-series CV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908791" y="713232"/>
            <a:ext cx="10515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B00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79/90%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908792" y="11521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interval coverage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10">
            <a:extLst>
              <a:ext uri="{FF2B5EF4-FFF2-40B4-BE49-F238E27FC236}">
                <a16:creationId xmlns:a16="http://schemas.microsoft.com/office/drawing/2014/main" id="{F4E51E29-1265-31BF-C86C-DE0E71F1FFD1}"/>
              </a:ext>
            </a:extLst>
          </p:cNvPr>
          <p:cNvSpPr/>
          <p:nvPr/>
        </p:nvSpPr>
        <p:spPr>
          <a:xfrm>
            <a:off x="8183880" y="3095876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Problem and motivation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63A3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The Staten Island Railway is the borough's only rapid-transit line and its link to the ferry.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1984248"/>
            <a:ext cx="521208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MTA publishes monthly on-time performance, but the reporting is retrospective: it says how the railway performed last month, not how it will perform next month.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306324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94360" y="3063240"/>
            <a:ext cx="64008" cy="1828800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320954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Why forecasting could help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557016"/>
            <a:ext cx="3200400" cy="1207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Lead time for maintenance windows and staffing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Early warning for months at risk of low OTP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Evidence-based rider expectations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06324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43400" y="3063240"/>
            <a:ext cx="64008" cy="182880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26280" y="3209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Why this series is forecastable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3557016"/>
            <a:ext cx="2697480" cy="1207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Momentum, seasonality, and a long monthly history create usable signal.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55280" y="1664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7BC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241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955280" y="21031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7-Day monthly observations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89720" y="1664208"/>
            <a:ext cx="133450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2006–26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189720" y="21031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history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652760" y="1664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B00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0652760" y="2103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signals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183880" y="3095876"/>
            <a:ext cx="45719" cy="1828799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372511" y="320954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Forecastable pattern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72511" y="3557016"/>
            <a:ext cx="29260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and bad months cluster; the calendar also matters.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Research question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1033272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Can gradient-boosted tree models using lag, rolling-window, calendar, and operational features outperform statistical baselines at forecasting next-month OTP, while remaining interpretable through SHAP?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331720" y="3703320"/>
            <a:ext cx="2743200" cy="0"/>
          </a:xfrm>
          <a:prstGeom prst="line">
            <a:avLst/>
          </a:prstGeom>
          <a:noFill/>
          <a:ln w="38100">
            <a:solidFill>
              <a:srgbClr val="D9DEE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715000" y="3703320"/>
            <a:ext cx="2743200" cy="0"/>
          </a:xfrm>
          <a:prstGeom prst="line">
            <a:avLst/>
          </a:prstGeom>
          <a:noFill/>
          <a:ln w="38100">
            <a:solidFill>
              <a:srgbClr val="D9DEE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92608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926080"/>
            <a:ext cx="64008" cy="1463040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07238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Accuracy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419856"/>
            <a:ext cx="2240280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error than naive, moving-average, SARIMA, and Prophet baselines?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92608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64008" cy="146304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92040" y="307238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Stability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3419856"/>
            <a:ext cx="2240280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advantage hold across eras under time-aware cross-validation?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41080" y="292608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641080" y="2926080"/>
            <a:ext cx="64008" cy="1463040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823960" y="307238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Usefulness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23960" y="3419856"/>
            <a:ext cx="2240280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SHAP drivers and calibrated intervals support planning decisions?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60120" y="5166360"/>
            <a:ext cx="10149840" cy="502920"/>
          </a:xfrm>
          <a:prstGeom prst="rect">
            <a:avLst/>
          </a:prstGeom>
          <a:solidFill>
            <a:srgbClr val="E7EEF5"/>
          </a:solidFill>
          <a:ln w="12700">
            <a:solidFill>
              <a:srgbClr val="E7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143000" y="5303520"/>
            <a:ext cx="9784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63A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deck answers the question in this order: fair comparison → cross-validation → uncertainty → explainability → decision support.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Data source and target variable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7BC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2006–26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764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MTA Open Data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88920" y="1325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1,205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88920" y="1764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 across 5 Day Time categories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325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B00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241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846320" y="1764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7-Day monthly observations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03720" y="13258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A485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903720" y="17647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model-table columns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520" y="2542032"/>
            <a:ext cx="10789920" cy="18288"/>
          </a:xfrm>
          <a:prstGeom prst="rect">
            <a:avLst/>
          </a:prstGeom>
          <a:solidFill>
            <a:srgbClr val="D9DEE2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06324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64008" cy="1508760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3209544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Target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557016"/>
            <a:ext cx="4800600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Next-month 7-Day On-Time Performance without boat. The target is shifted one month forward, so the final raw month has no observed next month.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4983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72200" y="3063240"/>
            <a:ext cx="64008" cy="150876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55080" y="3209544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Available fields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3557016"/>
            <a:ext cx="4663440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trains, on-time trips, scheduled trips, OTP with and without boat, trip completion, and calendar fields.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4892040"/>
            <a:ext cx="10424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1520" y="4892040"/>
            <a:ext cx="64008" cy="731520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4400" y="5038344"/>
            <a:ext cx="10104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Modeling boundary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5385816"/>
            <a:ext cx="101041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for now: weather, incidents, maintenance, and ridership. These are future work, not part of the current model.</a:t>
            </a:r>
            <a:endParaRPr lang="en-US" sz="10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What the history shows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OBSERVATIONS SHAPED THE MODELING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412480" y="1545336"/>
            <a:ext cx="3291840" cy="908647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412480" y="1545336"/>
            <a:ext cx="45719" cy="908647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95360" y="169164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1. Momentum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95360" y="2039112"/>
            <a:ext cx="2971800" cy="41487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month's OTP sits close to recent months' OTP. Lag and rolling features carry signal.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412480" y="3028224"/>
            <a:ext cx="3291840" cy="90864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412480" y="3028224"/>
            <a:ext cx="45720" cy="908645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595360" y="31745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 Seasonality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95360" y="3522000"/>
            <a:ext cx="2971800" cy="41486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Systematic within-year variation. Month, quarter, and season features were added.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12480" y="4824641"/>
            <a:ext cx="3291840" cy="90864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12480" y="4824641"/>
            <a:ext cx="45720" cy="908645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595360" y="4970945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3. Regime changes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0" y="5318417"/>
            <a:ext cx="2971800" cy="41486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Twenty years spans distinct eras, so a single train/test split can mislead.</a:t>
            </a:r>
            <a:endParaRPr lang="en-US" sz="10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5E5C62A-179E-6F41-EC19-5AE211462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545336"/>
            <a:ext cx="6602644" cy="42153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Feature engineering and model approach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800600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64008" cy="4069080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56362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From time series to supervised learning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911096"/>
            <a:ext cx="4480560" cy="3447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pairs this month's operational state with next month's OTP.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Lags: OTP t−1, t−2, t−3; delayed trains t−1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Rolling means: OTP 3- and 6-month; delays 3-month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Operational: delay rate, delayed trains, scheduled trips, completion %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Calendar: year, month, quarter, season, Day Time dummies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Result: 1,170 rows × 26 columns, no nulls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97880" y="1417320"/>
            <a:ext cx="5440680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97880" y="1417320"/>
            <a:ext cx="64008" cy="406908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80760" y="1563624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Model selection: chronological 80/20 split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80760" y="1911096"/>
            <a:ext cx="5120640" cy="3447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Regression — MAE 0.0305, R² 0.12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— MAE 0.0311, R² 0.16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 — best RMSE and R² 0.17, selected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 settings: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300 trees · max depth 5 · learning rate 0.05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the fair comparison, XGBoost is retrained using only pre-test data, so it has no information advantage over baselines.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30368" y="5833872"/>
            <a:ext cx="1920240" cy="301752"/>
          </a:xfrm>
          <a:prstGeom prst="roundRect">
            <a:avLst>
              <a:gd name="adj" fmla="val 24242"/>
            </a:avLst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21808" y="5907024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chronological honesty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 · Phase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Fair baseline comparison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6656" y="124358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window: Aug 2025 – Jan 2026 · trained through Jul 2025 · XGBoost retrained fairly on pre-test data only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51560" y="2011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68880" y="1938528"/>
            <a:ext cx="2566904" cy="384048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172944" y="20299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1.21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26700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6-mo MA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2596896"/>
            <a:ext cx="3160898" cy="384048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6938" y="268833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1.49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51560" y="33284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Prophet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68880" y="3255264"/>
            <a:ext cx="4900452" cy="384048"/>
          </a:xfrm>
          <a:prstGeom prst="rect">
            <a:avLst/>
          </a:prstGeom>
          <a:solidFill>
            <a:srgbClr val="6E7A80"/>
          </a:solidFill>
          <a:ln w="12700">
            <a:solidFill>
              <a:srgbClr val="6E7A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506492" y="334670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2.31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39867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SARIMA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468880" y="3913632"/>
            <a:ext cx="4964095" cy="384048"/>
          </a:xfrm>
          <a:prstGeom prst="rect">
            <a:avLst/>
          </a:prstGeom>
          <a:solidFill>
            <a:srgbClr val="6E7A80"/>
          </a:solidFill>
          <a:ln w="12700">
            <a:solidFill>
              <a:srgbClr val="6E7A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570135" y="400507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2.34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468880" y="4572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in OTP percentage points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52560" y="18745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7BC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1.21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052560" y="23134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 Fair MAE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052560" y="30358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B00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−18.7%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052560" y="3474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vs best baseline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052560" y="41970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0.48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052560" y="46360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R², only model above zero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86384" y="5266944"/>
            <a:ext cx="10515600" cy="502920"/>
          </a:xfrm>
          <a:prstGeom prst="rect">
            <a:avLst/>
          </a:prstGeom>
          <a:solidFill>
            <a:srgbClr val="FFF1C7"/>
          </a:solidFill>
          <a:ln w="12700">
            <a:solidFill>
              <a:srgbClr val="FFF1C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5413248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63A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moving average is a strong baseline. XGBoost wins by beating it, not just the more complex statistical models.</a:t>
            </a:r>
            <a:endParaRPr lang="en-US" sz="11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 · Phase 14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Does it hold up? Time-series cross-validation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58368" y="12618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chronological folds, 39 test rows each. Training always precedes testing.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Fold 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057400"/>
            <a:ext cx="1600200" cy="320040"/>
          </a:xfrm>
          <a:prstGeom prst="rect">
            <a:avLst/>
          </a:prstGeom>
          <a:solidFill>
            <a:srgbClr val="2167BC">
              <a:alpha val="85000"/>
            </a:srgbClr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23160" y="2057400"/>
            <a:ext cx="502920" cy="32004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139696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23160" y="2139696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B2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999232" y="17373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Fold 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999232" y="2057400"/>
            <a:ext cx="1600200" cy="320040"/>
          </a:xfrm>
          <a:prstGeom prst="rect">
            <a:avLst/>
          </a:prstGeom>
          <a:solidFill>
            <a:srgbClr val="2167BC">
              <a:alpha val="85000"/>
            </a:srgbClr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99432" y="2057400"/>
            <a:ext cx="502920" cy="32004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99232" y="2139696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99432" y="2139696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B2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175504" y="17373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Fold 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75504" y="2057400"/>
            <a:ext cx="1600200" cy="320040"/>
          </a:xfrm>
          <a:prstGeom prst="rect">
            <a:avLst/>
          </a:prstGeom>
          <a:solidFill>
            <a:srgbClr val="2167BC">
              <a:alpha val="85000"/>
            </a:srgbClr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75704" y="2057400"/>
            <a:ext cx="502920" cy="32004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75504" y="2139696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775704" y="2139696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B2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351776" y="17373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Fold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51776" y="2057400"/>
            <a:ext cx="1600200" cy="320040"/>
          </a:xfrm>
          <a:prstGeom prst="rect">
            <a:avLst/>
          </a:prstGeom>
          <a:solidFill>
            <a:srgbClr val="2167BC">
              <a:alpha val="85000"/>
            </a:srgbClr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951976" y="2057400"/>
            <a:ext cx="502920" cy="32004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51776" y="2139696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951976" y="2139696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B2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528048" y="17373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Fold 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528048" y="2057400"/>
            <a:ext cx="1600200" cy="320040"/>
          </a:xfrm>
          <a:prstGeom prst="rect">
            <a:avLst/>
          </a:prstGeom>
          <a:solidFill>
            <a:srgbClr val="2167BC">
              <a:alpha val="85000"/>
            </a:srgbClr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1128248" y="2057400"/>
            <a:ext cx="502920" cy="32004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528048" y="2139696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1128248" y="2139696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B2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28800" y="30632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7BC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2.11 ± 0.59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828800" y="35021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MAE across folds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92040" y="3063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B00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2.93 → 1.30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4892040" y="350215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earliest fold → latest fold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955280" y="3063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0.18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7955280" y="35021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R² with high variance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828800" y="4892040"/>
            <a:ext cx="8138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828800" y="4892040"/>
            <a:ext cx="64008" cy="731520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011680" y="5038344"/>
            <a:ext cx="7818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011680" y="5385816"/>
            <a:ext cx="78181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is era-dependent and improves with training history. The recent 1.21 MAE is a strong recent-era result, not a universal guarantee.</a:t>
            </a:r>
            <a:endParaRPr lang="en-US" sz="105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 · Phase 15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Prediction intervals and uncertainty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16002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7BC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79.5%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20391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coverage, 80% interval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0" y="16002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89.7%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0391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coverage, 90% interval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949440" y="2788920"/>
            <a:ext cx="3383280" cy="0"/>
          </a:xfrm>
          <a:prstGeom prst="line">
            <a:avLst/>
          </a:prstGeom>
          <a:noFill/>
          <a:ln w="762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498080" y="2423160"/>
            <a:ext cx="2286000" cy="0"/>
          </a:xfrm>
          <a:prstGeom prst="line">
            <a:avLst/>
          </a:prstGeom>
          <a:noFill/>
          <a:ln w="127000">
            <a:solidFill>
              <a:srgbClr val="F4B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549640" y="2176272"/>
            <a:ext cx="384048" cy="384048"/>
          </a:xfrm>
          <a:prstGeom prst="ellipse">
            <a:avLst/>
          </a:prstGeom>
          <a:solidFill>
            <a:srgbClr val="2167B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46720" y="1691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Forecast 96%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95160" y="30540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roughly 93–99 at 80% confidence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3886200"/>
            <a:ext cx="5166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60120" y="3886200"/>
            <a:ext cx="64008" cy="1417320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43000" y="4032504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intervals were built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4379976"/>
            <a:ext cx="4846320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Out-of-sample CV residuals, not in-sample fit. 80% band uses the 10th/90th residual percentiles; 90% band uses 5th/95th.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46520" y="3886200"/>
            <a:ext cx="47548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46520" y="3886200"/>
            <a:ext cx="64008" cy="141732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29400" y="4032504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Planning interpretation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29400" y="4379976"/>
            <a:ext cx="4434840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forecast is not a single promise. It becomes a range that can be translated into operational risk.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 · SHAP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Why the model predicts what it predicts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655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1. Month number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5472684" cy="329184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901684" y="166420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seasonality dominates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22768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 Delay rate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2221992"/>
            <a:ext cx="4147718" cy="329184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76718" y="22860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delay burden carries forward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28986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3. Year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7560" y="2843784"/>
            <a:ext cx="3341218" cy="329184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70218" y="290779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long-run era effects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960" y="3520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4. OTP lags / rolling means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37560" y="3465576"/>
            <a:ext cx="2707538" cy="329184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36538" y="352958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momentum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2960" y="41422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5. Delayed-train counts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337560" y="4087368"/>
            <a:ext cx="2016252" cy="329184"/>
          </a:xfrm>
          <a:prstGeom prst="rect">
            <a:avLst/>
          </a:prstGeom>
          <a:solidFill>
            <a:srgbClr val="6E7A80"/>
          </a:solidFill>
          <a:ln w="12700">
            <a:solidFill>
              <a:srgbClr val="6E7A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45252" y="415137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operational load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5840" y="5074920"/>
            <a:ext cx="98755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05840" y="5074920"/>
            <a:ext cx="64008" cy="777240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88720" y="5221224"/>
            <a:ext cx="9555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Operationally coherent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88720" y="5568696"/>
            <a:ext cx="955548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emphasizes where the railway is in the calendar, how much delay it is carrying, and how it has trended recently. This is explainable enough for an operations meeting.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Decision support: Streamlit dashboard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194560" y="2834640"/>
            <a:ext cx="2286000" cy="0"/>
          </a:xfrm>
          <a:prstGeom prst="line">
            <a:avLst/>
          </a:prstGeom>
          <a:noFill/>
          <a:ln w="38100">
            <a:solidFill>
              <a:srgbClr val="D9DEE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83480" y="2834640"/>
            <a:ext cx="2286000" cy="0"/>
          </a:xfrm>
          <a:prstGeom prst="line">
            <a:avLst/>
          </a:prstGeom>
          <a:noFill/>
          <a:ln w="38100">
            <a:solidFill>
              <a:srgbClr val="D9DEE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0" y="2834640"/>
            <a:ext cx="2286000" cy="0"/>
          </a:xfrm>
          <a:prstGeom prst="line">
            <a:avLst/>
          </a:prstGeom>
          <a:noFill/>
          <a:ln w="38100">
            <a:solidFill>
              <a:srgbClr val="D9DEE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64008" cy="1325880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2951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1. Overview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642616"/>
            <a:ext cx="187452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Average, best, and worst OTP; average delay rate.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214884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429000" y="2148840"/>
            <a:ext cx="64008" cy="132588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11880" y="22951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 Trend views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11880" y="2642616"/>
            <a:ext cx="187452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OTP and actual vs predicted.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17920" y="214884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7920" y="2148840"/>
            <a:ext cx="64008" cy="1325880"/>
          </a:xfrm>
          <a:prstGeom prst="rect">
            <a:avLst/>
          </a:prstGeom>
          <a:solidFill>
            <a:srgbClr val="2A4850"/>
          </a:solidFill>
          <a:ln w="12700">
            <a:solidFill>
              <a:srgbClr val="2A48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22951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3. Forecasting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642616"/>
            <a:ext cx="187452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Recursive 3–12 month horizon and KPI cards.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06840" y="214884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006840" y="2148840"/>
            <a:ext cx="64008" cy="132588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89720" y="22951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4. Explainability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89720" y="2642616"/>
            <a:ext cx="187452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SHAP drivers surfaced next to forecasts.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14400" y="4617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Operational risk levels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83280" y="4572000"/>
            <a:ext cx="1828800" cy="301752"/>
          </a:xfrm>
          <a:prstGeom prst="roundRect">
            <a:avLst>
              <a:gd name="adj" fmla="val 24242"/>
            </a:avLst>
          </a:prstGeom>
          <a:solidFill>
            <a:srgbClr val="DFF1E5"/>
          </a:solidFill>
          <a:ln w="12700">
            <a:solidFill>
              <a:srgbClr val="DFF1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0" y="464515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76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 OTP ≥ 95%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40680" y="4572000"/>
            <a:ext cx="1920240" cy="301752"/>
          </a:xfrm>
          <a:prstGeom prst="roundRect">
            <a:avLst>
              <a:gd name="adj" fmla="val 24242"/>
            </a:avLst>
          </a:prstGeom>
          <a:solidFill>
            <a:srgbClr val="FFF1C7"/>
          </a:solidFill>
          <a:ln w="12700">
            <a:solidFill>
              <a:srgbClr val="FFF1C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32120" y="4645152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B56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  90–95%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635240" y="4572000"/>
            <a:ext cx="1828800" cy="301752"/>
          </a:xfrm>
          <a:prstGeom prst="roundRect">
            <a:avLst>
              <a:gd name="adj" fmla="val 24242"/>
            </a:avLst>
          </a:prstGeom>
          <a:solidFill>
            <a:srgbClr val="F5D8D8"/>
          </a:solidFill>
          <a:ln w="12700">
            <a:solidFill>
              <a:srgbClr val="F5D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26680" y="464515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A1F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 OTP &lt; 90%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14400" y="5504688"/>
            <a:ext cx="10241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63A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Forecasts become risk language plus a plain-English outlook message: the vocabulary of service planning, not machine learning.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118872" cy="640080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8912" y="155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E7A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Limitations, future work, and conclusion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38912" y="1097280"/>
            <a:ext cx="1143000" cy="0"/>
          </a:xfrm>
          <a:prstGeom prst="line">
            <a:avLst/>
          </a:prstGeom>
          <a:noFill/>
          <a:ln w="38100">
            <a:solidFill>
              <a:srgbClr val="F4B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3375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64008" cy="3246120"/>
          </a:xfrm>
          <a:prstGeom prst="rect">
            <a:avLst/>
          </a:prstGeom>
          <a:solidFill>
            <a:srgbClr val="6E7A80"/>
          </a:solidFill>
          <a:ln w="12700">
            <a:solidFill>
              <a:srgbClr val="6E7A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5636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911096"/>
            <a:ext cx="3017520" cy="2624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241 monthly observations; 6-month test window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Era-dependent accuracy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weather, incident, or ridership inputs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Recursive multi-month forecasts compound error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3375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1417320"/>
            <a:ext cx="64008" cy="3246120"/>
          </a:xfrm>
          <a:prstGeom prst="rect">
            <a:avLst/>
          </a:prstGeom>
          <a:solidFill>
            <a:srgbClr val="F4B000"/>
          </a:solidFill>
          <a:ln w="12700">
            <a:solidFill>
              <a:srgbClr val="F4B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17720" y="15636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1911096"/>
            <a:ext cx="3017520" cy="2624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Weather features, with controlled comparison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Incident, maintenance, ridership covariates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Uncertainty-aware risk bands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With-Boat and peak-period targets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83880" y="1417320"/>
            <a:ext cx="33375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889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64008" cy="3246120"/>
          </a:xfrm>
          <a:prstGeom prst="rect">
            <a:avLst/>
          </a:prstGeom>
          <a:solidFill>
            <a:srgbClr val="2167BC"/>
          </a:solidFill>
          <a:ln w="12700">
            <a:solidFill>
              <a:srgbClr val="2167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6760" y="15636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2A4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1911096"/>
            <a:ext cx="3017520" cy="2624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XGBoost beats all baselines fairly: −18.7% MAE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Advantage is real but era-dependent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Drivers match planner intuition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5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Intervals calibrated near nominal coverage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5257800"/>
            <a:ext cx="10287000" cy="658368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43000" y="5468112"/>
            <a:ext cx="9921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 reproducible decision-support system: forecast, explanation, uncertainty, and risk framing — documented end to end.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E7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ahnschrift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1984</Words>
  <Application>Microsoft Macintosh PowerPoint</Application>
  <PresentationFormat>Widescreen</PresentationFormat>
  <Paragraphs>224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Bahnschrift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 Staten Island Railway On-Time Performance</dc:title>
  <dc:subject>Staten Island Railway OTP Forecasting</dc:subject>
  <dc:creator>OpenAI</dc:creator>
  <cp:lastModifiedBy>Chinmay Naringrekar</cp:lastModifiedBy>
  <cp:revision>2</cp:revision>
  <dcterms:created xsi:type="dcterms:W3CDTF">2026-07-03T23:14:35Z</dcterms:created>
  <dcterms:modified xsi:type="dcterms:W3CDTF">2026-07-04T00:31:36Z</dcterms:modified>
</cp:coreProperties>
</file>