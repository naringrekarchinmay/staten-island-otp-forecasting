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This project asks whether machine learning can turn the MTA's backward-looking on-time performance reporting for the Staten Island Railway into a forward-looking forecast. Three headline results up front: a fairly retrained XGBoost model beat the best simple baseline by about 18.7 percent on mean absolute error; that result was stress-tested with five-fold time-series cross-validation; and residual-based prediction intervals achieved almost exactly their nominal 80 and 90 percent coverage. Everything is built on twenty years of public MTA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Staten Island Railway is the only rail line on the island, and for most riders it exists to meet the ferry. The MTA already measures reliability well: monthly on-time performance, published openly. The gap is that this is entirely retrospective. The preliminary examination showed three properties that make the series a good machine-learning candidate: strong month-to-month momentum, visible seasonality, and a long history. Those three properties directly motivated the feature engineering you'll see on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formal research question, from the project's methodology phase: can gradient-boosted trees with engineered temporal features beat traditional statistical forecasting on this problem, while staying interpretable? It decomposes into three testable sub-questions: accuracy against baselines under a fair protocol, stability across historical eras, and practical usefulness through explainability and uncertainty quantification. Each of the results slides answers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dataset: the MTA's public Staten Island Railway on-time performance file, 2006 through January 2026, about twelve hundred rows across five reporting categories. The headline research series is the 7-Day category, 241 monthly observations. The target definition matters: it is the without-boat OTP column, one month ahead. The dataset also carries a with-boat variant that penalizes missed ferry connections; we deliberately exclude it as a target. And a subtle point for reproducibility: shifting the target forward drops the last raw month from the supervised table, so features end at December 2025. No external data is used yet; weather and incidents are explicitly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Exploratory analysis looked at the OTP trend, the delayed-trains trend, and seasonal structure. Three findings drove everything downstream. First, momentum: the series is strongly autocorrelated, which is why lag and rolling-average features work. Second, seasonality: there is recurring within-year structure, and this is not just an EDA impression, SHAP later ranks month number as the single most influential feature. Third, regime changes: the sample spans twenty years of different operating conditions including the pandemic, which is exactly why we added chronological cross-validation instead of trusting one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series becomes a supervised problem in the standard way: each row pairs the current month's operational state with next month's OTP. Feature groups mirror the EDA findings: lags for momentum, rolling means for trend, operational load, and calendar. That yields 1,170 rows by 26 features. On the modeling side, three candidates were compared on a chronological 80/20 split, on the 0-to-1 proportion scale. The three are close on MAE, but XGBoost has the best RMSE and R-squared, handles interactions, and supports fast SHAP, so it was selected. The methodological commitment: chronological honesty everywhere. In the fair comparison, XGBoost is retrained from scratch on pre-test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accuracy result. Six forecasters, all evaluated on the same held-out window, August 2025 through January 2026, with XGBoost retrained fairly on pre-test data only. XGBoost wins with MAE 1.21 OTP percentage points against 1.49 for the best simple baseline, the 6-month moving average: an 18.7 percent reduction. It is also the only model with positive R-squared on the window. Note the ordering below it: the moving averages beat SARIMA and Prophet. On a short horizon with this much momentum, smoothing is cheap and effective, while the statistical decompositions over-model. That's part of why the gradient-boosted model's win is meaningful: it beats the hard-to-beat baseline, not just the fancy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Stability check. TimeSeriesSplit with five chronological folds over the full 2006-to-2026 history. Average MAE is 2.11, clearly worse than the 1.21 from the recent-era window, and that gap is itself a finding: headline accuracy depends on the evaluation era. The fold pattern is almost monotonic. Fold 1, trained on only 39 rows from 2006 to 2009, has MAE 2.93; fold 5, trained on 195 rows through 2022, gets down to 1.30. So the honest read is: the Phase 13 number is a recent-era estimate, and the model earns its accuracy as history accumulates. Average R-squared across folds is 0.18 with high variance, which is why MAE is our primary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forecasts overstate certainty, so Phase 15 attaches empirical intervals. Method: take the residuals from the chronologically honest cross-validation folds, and use their 10th/90th and 5th/95th percentiles as the 80 and 90 percent bands. Because these come from out-of-sample residuals, the coverage numbers are meaningful: the 80 percent interval covered 79.5 percent of actuals, the 90 percent interval covered 89.7. Both within about half a point of nominal. For a planner the translation is simple: a 96 percent OTP forecast should be read as roughly 93 to 99 at 80 percent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Interpretability was part of the research question, not an afterthought. SHAP decomposes each prediction into additive feature contributions. The ranking: month number first by a wide margin, confirming the seasonality finding from EDA; then delay rate; then year, capturing era effects; then the OTP lag and rolling features, which is the momentum story; then raw delayed-train counts. The important part for the course: this list is exactly what a transit planner would name as drivers of reliability. When the model and domain intuition agree on the why, the forecast becomes something you can defend in an operations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delivery vehicle is a Streamlit dashboard aimed at non-technical users. Four capability groups: executive KPI cards; interactive trend and actual-versus-predicted views with Day Time filtering; recursive future forecasting with a user-selected 3-to-12-month horizon; and the SHAP explainability view. The piece I want to highlight is risk translation: forecasted months are classified Low, Medium, or High risk with simple OTP thresholds, plus a plain-language outlook message. That last step converts the model's output into the vocabulary planners already use. A planned upgrade will surface the Phase 13-through-15 research results directly in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close honestly. Limitations: this is a small monthly sample with a short test window, accuracy is era-dependent, there are no external drivers yet, and recursive forecasts compound error with horizon. Future work follows directly: weather first, with a controlled base-versus-enhanced comparison, then incident and ridership data, uncertainty-aware risk bands, and alternative targets including the with-boat series. Conclusion: under a leakage-free comparison, the gradient-boosted model beat every baseline including the hard-to-beat moving average; cross-validation tempered but did not overturn the result; SHAP showed the drivers are ones planners recognize; and the prediction intervals are calibrated. The research question is answered affirmatively, with the caveats stated. Thank you;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Forecasting Staten Island Railway On-Time Performance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CADCFC"/>
                </a:solidFill>
                <a:latin typeface="Calibri"/>
              </a:rPr>
              <a:t>Explainable and Uncertainty-Aware Machine Learning for Transit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B81C"/>
                </a:solidFill>
                <a:latin typeface="Calibri"/>
              </a:rPr>
              <a:t>ANLY 530 Final Project   |   Chinmay Naringrekar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Data: MTA Open Data, Staten Island Railway OTP, 2006–2026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92040"/>
            <a:ext cx="3154680" cy="114300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56632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81C"/>
                </a:solidFill>
                <a:latin typeface="Georgia"/>
              </a:rPr>
              <a:t>18.7%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lower MAE than best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892040"/>
            <a:ext cx="3154680" cy="114300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5056632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81C"/>
                </a:solidFill>
                <a:latin typeface="Georgia"/>
              </a:rPr>
              <a:t>5 folds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time-series cross-validation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892040"/>
            <a:ext cx="3154680" cy="114300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5056632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81C"/>
                </a:solidFill>
                <a:latin typeface="Georgia"/>
              </a:rPr>
              <a:t>79% / 90%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observed interval coverage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5778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4A5568"/>
                </a:solidFill>
                <a:latin typeface="Calibri"/>
              </a:rPr>
              <a:t>The Staten Island Railway is the borough's only rapid-transit line and its link to the ferry.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4A5568"/>
                </a:solidFill>
                <a:latin typeface="Calibri"/>
              </a:rPr>
              <a:t>The MTA publishes monthly on-time performance, but the reporting is retrospective: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it says how the railway performed last month, not how it will perform next month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Georgia"/>
              </a:rPr>
              <a:t>Why forecasting could help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•  Lead time for maintenance windows and staffing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•  Early warning for months at risk of low OTP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•  Sets rider expectations with evidence, not anecdotes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21208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645920"/>
            <a:ext cx="45720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Why the series is forecastable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B81C"/>
                </a:solidFill>
                <a:latin typeface="Calibri"/>
              </a:rPr>
              <a:t>Momentum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Good and bad months cluster; OTP is strongly autocorrelated.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B81C"/>
                </a:solidFill>
                <a:latin typeface="Calibri"/>
              </a:rPr>
              <a:t>Seasonality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Recurring within-year patterns across the calendar.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B81C"/>
                </a:solidFill>
                <a:latin typeface="Calibri"/>
              </a:rPr>
              <a:t>History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241 monthly observations spanning 2006 to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3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55680" cy="21488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Can gradient-boosted tree models using lag, rolling-window, calendar, and operational features outperform statistical baselines such as SARIMA and Prophet at forecasting next-month on-time performance, while remaining interpretable through SHAP?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538728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308152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FB81C"/>
                </a:solidFill>
                <a:latin typeface="Georgia"/>
              </a:rPr>
              <a:t>Accuracy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Lower error than naive, moving-average, SARIMA, and Prophet baselines?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886200"/>
            <a:ext cx="3538728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4069080"/>
            <a:ext cx="308152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FB81C"/>
                </a:solidFill>
                <a:latin typeface="Georgia"/>
              </a:rPr>
              <a:t>Stability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Does the advantage hold across eras under time-aware cross-validation?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3886200"/>
            <a:ext cx="3538728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4069080"/>
            <a:ext cx="308152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FB81C"/>
                </a:solidFill>
                <a:latin typeface="Georgia"/>
              </a:rPr>
              <a:t>Usefulness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Can SHAP drivers and calibrated intervals support real planning decisions?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Data source and target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4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265176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2377440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Georgia"/>
              </a:rPr>
              <a:t>2006–26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monthly MTA open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80160"/>
            <a:ext cx="265176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389888"/>
            <a:ext cx="2377440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Georgia"/>
              </a:rPr>
              <a:t>1,205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rows, 5 Day Time categories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265176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89888"/>
            <a:ext cx="2377440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Georgia"/>
              </a:rPr>
              <a:t>241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7-Day monthly observations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280160"/>
            <a:ext cx="265176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389888"/>
            <a:ext cx="2377440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Georgia"/>
              </a:rPr>
              <a:t>26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columns in the model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34640"/>
            <a:ext cx="11155680" cy="1600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FFB81C"/>
                </a:solidFill>
                <a:latin typeface="Georgia"/>
              </a:rPr>
              <a:t>Target: next-month 7-Day On-Time Performance (without boat)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The On-Time Performance column filtered to the 7-Day category, shifted one month forward. The "With Boat" variant (penalizing missed ferry connections) is excluded and reserved for future comparison.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Columns: delayed trains, on-time trips, scheduled trips, OTP (with and without boat), trip completion, calendar fields.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Because the target is a one-month-forward shift, the feature table ends at 2025-12: the final raw month has no observed next month.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Excluded for now: weather, incidents, maintenance, ridership. These are future work, not part of the current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What the history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969264" y="1689354"/>
            <a:ext cx="5102352" cy="3845052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tp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25930"/>
            <a:ext cx="5029200" cy="3771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3720" y="1417320"/>
            <a:ext cx="475488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Three observations shaped the modeling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FFB81C"/>
                </a:solidFill>
                <a:latin typeface="Calibri"/>
              </a:rPr>
              <a:t>1. Momentum</a:t>
            </a:r>
          </a:p>
          <a:p>
            <a:pPr algn="l">
              <a:spcAft>
                <a:spcPts val="120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A month's OTP sits close to recent months' OTP. Lag and rolling features will carry signal.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FFB81C"/>
                </a:solidFill>
                <a:latin typeface="Calibri"/>
              </a:rPr>
              <a:t>2. Seasonality</a:t>
            </a:r>
          </a:p>
          <a:p>
            <a:pPr algn="l">
              <a:spcAft>
                <a:spcPts val="120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Systematic within-year variation. Month, quarter, and season features added; SHAP later ranks month #1.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FFB81C"/>
                </a:solidFill>
                <a:latin typeface="Calibri"/>
              </a:rPr>
              <a:t>3. Regime changes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Twenty years spans distinct eras, including the pandemic. A single train/test split can mislead, motivating time-series cross-validation.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Feature engineering and model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6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440680" cy="4709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8006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E2761"/>
                </a:solidFill>
                <a:latin typeface="Georgia"/>
              </a:rPr>
              <a:t>From time series to supervised learning</a:t>
            </a:r>
          </a:p>
          <a:p>
            <a:pPr algn="l">
              <a:spcAft>
                <a:spcPts val="1000"/>
              </a:spcAft>
            </a:pPr>
            <a:r>
              <a:rPr sz="1350" b="0" i="1">
                <a:solidFill>
                  <a:srgbClr val="4A5568"/>
                </a:solidFill>
                <a:latin typeface="Calibri"/>
              </a:rPr>
              <a:t>Each row: this month's operational state → next month's OTP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•  Lags: OTP t−1, t−2, t−3; delayed trains t−1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•  Rolling means: OTP 3- and 6-month; delays 3-month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•  Operational: delay rate, delayed trains, scheduled trips, completion %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•  Calendar: year, month, quarter, season and Day Time dummies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Result: 1,170 rows × 26 columns, no nulls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40680" cy="4709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08760"/>
            <a:ext cx="48006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E2761"/>
                </a:solidFill>
                <a:latin typeface="Georgia"/>
              </a:rPr>
              <a:t>Model selection (chronological 80/20 split)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•  Linear Regression — MAE 0.0305, R² 0.12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•  Random Forest — MAE 0.0311, R² 0.16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•  XGBoost — best RMSE and R² (0.17), selected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XGBoost: 300 trees, depth 5, learning rate 0.05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Every reported split preserves time order. For the research comparison, XGBoost is retrained using only pre-test data, so it has no information advantage over baselines.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Fair baseline comparison (Phase 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952" y="1289304"/>
            <a:ext cx="4599975" cy="2770632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hase13_model_comparison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28" y="1325880"/>
            <a:ext cx="4526823" cy="2697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06235" y="1289304"/>
            <a:ext cx="5515409" cy="2770632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hase13_actual_vs_key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811" y="1325880"/>
            <a:ext cx="5442257" cy="2697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4297680"/>
            <a:ext cx="33832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407408"/>
            <a:ext cx="310896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2C5F2D"/>
                </a:solidFill>
                <a:latin typeface="Georgia"/>
              </a:rPr>
              <a:t>MAE 1.21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XGBoost Fair (best baseline: 1.49)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297680"/>
            <a:ext cx="33832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407408"/>
            <a:ext cx="310896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2C5F2D"/>
                </a:solidFill>
                <a:latin typeface="Georgia"/>
              </a:rPr>
              <a:t>−18.7%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error vs 6-month moving average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297680"/>
            <a:ext cx="33832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4407408"/>
            <a:ext cx="310896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Georgia"/>
              </a:rPr>
              <a:t>R² 0.48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only model above zero 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4A5568"/>
                </a:solidFill>
                <a:latin typeface="Calibri"/>
              </a:rPr>
              <a:t>Test window: Aug 2025 – Jan 2026, trained through Jul 2025. Full table: outputs/reports/phase13_model_comparison.csv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Does it hold up? Time-series cross-validation (Phase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8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1853" y="1335024"/>
            <a:ext cx="6671572" cy="4005072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hase14_cv_mae_by_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9" y="1371600"/>
            <a:ext cx="65984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48640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4A5568"/>
                </a:solidFill>
                <a:latin typeface="Calibri"/>
              </a:rPr>
              <a:t>5 chronological folds, 39 test rows each. Training always precedes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8404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572768"/>
            <a:ext cx="3566160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Georgia"/>
              </a:rPr>
              <a:t>2.11 ± 0.59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average MAE across folds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017520"/>
            <a:ext cx="38404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3127248"/>
            <a:ext cx="3566160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Georgia"/>
              </a:rPr>
              <a:t>2.93 → 1.30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MAE, earliest fold → latest fold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572000"/>
            <a:ext cx="3840480" cy="13716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470916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Accuracy is era-dependent and improves with training history.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Prediction intervals and uncertainty (Phase 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871669" y="1289304"/>
            <a:ext cx="7400661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hase15_prediction_inter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45" y="1325880"/>
            <a:ext cx="7327509" cy="3108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6866" y="4535424"/>
            <a:ext cx="2641066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hase15_interval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42" y="4572000"/>
            <a:ext cx="2567914" cy="1920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554480"/>
            <a:ext cx="27432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664207"/>
            <a:ext cx="246888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2C5F2D"/>
                </a:solidFill>
                <a:latin typeface="Georgia"/>
              </a:rPr>
              <a:t>79.5%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coverage, 80% interval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3017520"/>
            <a:ext cx="27432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3127248"/>
            <a:ext cx="246888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2C5F2D"/>
                </a:solidFill>
                <a:latin typeface="Georgia"/>
              </a:rPr>
              <a:t>89.7%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coverage, 90% interval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470916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Built from out-of-sample CV residuals, not in-sample fit.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80% band: −3.1 to +3.4 OTP points (width ≈ 6.3)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90% band: −4.5 to +4.2 OTP points (width ≈ 8.2)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A5568"/>
                </a:solidFill>
                <a:latin typeface="Calibri"/>
              </a:rPr>
              <a:t>A forecast of 96% reads as "roughly 93–99" at 80% confidence.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Why the model predicts what it predicts (SHAP)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20496" y="1289304"/>
            <a:ext cx="4245406" cy="5102352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72" y="1325880"/>
            <a:ext cx="4172254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40680" y="1463040"/>
            <a:ext cx="6217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E2761"/>
                </a:solidFill>
                <a:latin typeface="Georgia"/>
              </a:rPr>
              <a:t>Top drivers, by mean |SHAP value|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4A5568"/>
                </a:solidFill>
                <a:latin typeface="Calibri"/>
              </a:rPr>
              <a:t>1.  Month number — seasonality dominates, by a wide margin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4A5568"/>
                </a:solidFill>
                <a:latin typeface="Calibri"/>
              </a:rPr>
              <a:t>2.  Delay rate — the current delay burden carries forward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4A5568"/>
                </a:solidFill>
                <a:latin typeface="Calibri"/>
              </a:rPr>
              <a:t>3.  Year — long-run era effects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4A5568"/>
                </a:solidFill>
                <a:latin typeface="Calibri"/>
              </a:rPr>
              <a:t>4.  OTP lags and rolling means — recent momentum</a:t>
            </a:r>
          </a:p>
          <a:p>
            <a:pPr algn="l">
              <a:spcAft>
                <a:spcPts val="1400"/>
              </a:spcAft>
            </a:pPr>
            <a:r>
              <a:rPr sz="1450" b="0" i="0">
                <a:solidFill>
                  <a:srgbClr val="4A5568"/>
                </a:solidFill>
                <a:latin typeface="Calibri"/>
              </a:rPr>
              <a:t>5.  Delayed-train counts — raw operational 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4480560"/>
            <a:ext cx="621792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4663440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Operationally coherent: where the railway is in the calendar, how much delay it is carrying, and how it has trended recently jointly set the forecast. Not a black box: the dashboard asks why, not just what.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761"/>
                </a:solidFill>
                <a:latin typeface="Georgia"/>
              </a:rPr>
              <a:t>Decision support: the 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11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66928" cy="56692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99032"/>
            <a:ext cx="5669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B81C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07592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Executive overview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KPI cards: average, best, and worst OTP; average delay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13432"/>
            <a:ext cx="566928" cy="56692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86584"/>
            <a:ext cx="5669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B81C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95144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Trend and model views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Historical OTP with Day Time filtering; actual vs predicted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00984"/>
            <a:ext cx="566928" cy="56692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374136"/>
            <a:ext cx="5669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B81C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82696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Future forecasting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Recursive 3–12 month horizon with forecast KPI cards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88536"/>
            <a:ext cx="566928" cy="56692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361688"/>
            <a:ext cx="5669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B81C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70248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Explainability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SHAP drivers surfaced next to the forecasts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325880"/>
            <a:ext cx="406908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5544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Georgia"/>
              </a:rPr>
              <a:t>Operational risk levels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148840"/>
            <a:ext cx="1371600" cy="77724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235000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35000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OTP ≥ 95%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3172968"/>
            <a:ext cx="1371600" cy="777240"/>
          </a:xfrm>
          <a:prstGeom prst="round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3374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37413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90–95%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4197096"/>
            <a:ext cx="1371600" cy="777240"/>
          </a:xfrm>
          <a:prstGeom prst="round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4398264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439826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OTP &lt; 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23560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4A5568"/>
                </a:solidFill>
                <a:latin typeface="Calibri"/>
              </a:rPr>
              <a:t>Forecasts become risk language plus a plain-English outlook message: the vocabulary of service planning, not of machine learning.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Georgia"/>
              </a:rPr>
              <a:t>Limitations, future work,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12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38728" cy="420624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299008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FFB81C"/>
                </a:solidFill>
                <a:latin typeface="Georgia"/>
              </a:rPr>
              <a:t>Limitations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•  241 monthly observations; 6-month test window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•  Era-dependent accuracy (CV 2.11 vs recent 1.21)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•  No weather, incident, or ridership inputs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•  Recursive multi-month forecasts compound 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71600"/>
            <a:ext cx="3538728" cy="420624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600200"/>
            <a:ext cx="299008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FFB81C"/>
                </a:solidFill>
                <a:latin typeface="Georgia"/>
              </a:rPr>
              <a:t>Future work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•  Weather features, with controlled comparison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•  Incident, maintenance, ridership covariates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•  Uncertainty-aware risk bands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•  "With Boat" and peak-period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9016" y="1371600"/>
            <a:ext cx="3538728" cy="420624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03336" y="1600200"/>
            <a:ext cx="299008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FFB81C"/>
                </a:solidFill>
                <a:latin typeface="Georgia"/>
              </a:rPr>
              <a:t>Conclusion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•  XGBoost beats all baselines fairly: −18.7% MAE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•  Advantage is real but era-dependent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•  Drivers match planner intuition (SHAP)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•  Intervals calibrated near nominal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978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 reproducible decision-support system: forecast, explanation, uncertainty, and risk framing — documented end to 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